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Gradient
Boosting</c:v>
                  </c:pt>
                  <c:pt idx="1">
                    <c:v>Random
Forest</c:v>
                  </c:pt>
                  <c:pt idx="2">
                    <c:v>Hybrid</c:v>
                  </c:pt>
                  <c:pt idx="3">
                    <c:v>Decision
Tree</c:v>
                  </c:pt>
                  <c:pt idx="4">
                    <c:v>Logistic
Regression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0.9991</c:v>
                </c:pt>
                <c:pt idx="1">
                  <c:v>0.9985</c:v>
                </c:pt>
                <c:pt idx="2">
                  <c:v>0.9969</c:v>
                </c:pt>
                <c:pt idx="3">
                  <c:v>0.9788</c:v>
                </c:pt>
                <c:pt idx="4">
                  <c:v>0.9661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9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9144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BANCA ROMA DIGITALE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&amp; Prevention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| Rule-Based Strategies | Graph Analytics | Real-Time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Kareem Makki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Senior Data Analyst | Data Scientist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72768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572768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29968" y="1005840"/>
            <a:ext cx="1572768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005840"/>
            <a:ext cx="1572768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029968" y="10972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029968" y="13716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3,767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29968" y="18288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7.53% rate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85616" y="1005840"/>
            <a:ext cx="1572768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1005840"/>
            <a:ext cx="1572768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785616" y="10972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85616" y="13716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€10.8M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85616" y="18288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losses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41264" y="1005840"/>
            <a:ext cx="1572768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1005840"/>
            <a:ext cx="1572768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541264" y="10972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541264" y="13716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94.3%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41264" y="18288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recall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96912" y="1005840"/>
            <a:ext cx="1572768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6912" y="1005840"/>
            <a:ext cx="1572768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7296912" y="10972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296912" y="13716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96912" y="18288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 end-to-end fraud detection system for a Rome-based digital bank covering card-present, card-not-present, account takeover, synthetic identity, money mule, and phishing fraud across 50,000 transactions. The system combines supervised ML models (Gradient Boosting, Random Forest), unsupervised anomaly detection (Isolation Forest), graph-based network analysis, and expert rule-based strategies into a hybrid production-ready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LANDSCAPE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097280"/>
                <a:gridCol w="822960"/>
                <a:gridCol w="3840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Fraud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Exposure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% 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Account Takeover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1,013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€5.4M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50.1%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Stolen credentials, unauthorized access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5CF6"/>
                          </a:solidFill>
                        </a:rPr>
                        <a:t>Phishing / ATO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856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€2.1M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19.8%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Social engineering attacks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</a:rPr>
                        <a:t>Card Not Present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615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€1.6M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14.4%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Online/phone transactions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Card Present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864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€885K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8.2%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Counterfeit/stolen cards at POS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First Party Fraud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408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€702K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6.5%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False claims by account holder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</a:rPr>
                        <a:t>Money Mule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€86K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0.8%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Laundering through recruited accounts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Synthetic Identity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€16K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0.2%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Fabricated identities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takeover represents 50% of total fraud exposure at EUR 5.4M — the single largest threat vector requiring immediate attention.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  <a:gridCol w="1097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AUC-ROC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F1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Gradient Boosting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0.9991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0.961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BEST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0.921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</a:rPr>
                        <a:t>STRONG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Hybrid (ML+Rules)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0.9969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0.960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B5CF6"/>
                          </a:solidFill>
                        </a:rPr>
                        <a:t>PRODUCTION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0.9788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0.765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0.954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GOOD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Logistic Regression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0.9661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0.878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BASELINE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Isolation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0.730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0.464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0.462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0.463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UNSUPERVISED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3474720"/>
          <a:ext cx="82296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TECHNIQUES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Fraud Signals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Unknown device flag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Foreign transaction indicator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Transaction amount (EUR)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 authentication flag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Amount-to-income ratio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Velocity (txn count last 1h)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Response time (ms)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Account age (days)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Credit score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Crypto exchange flag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Applied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37160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Boosting, Random Forest,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Tree, Logistic Regression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2057400"/>
            <a:ext cx="39319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05740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057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anomaly detection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74320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7432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community detection,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ring identification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39319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429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expert rules with threshold tuning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4114800"/>
            <a:ext cx="39319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4114800"/>
            <a:ext cx="54864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114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4114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ML score + 40% rule 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production deployment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FRAUD DETECTION</a:t>
            </a:r>
            <a:endParaRPr lang="en-US" sz="1800" dirty="0"/>
          </a:p>
        </p:txBody>
      </p:sp>
      <p:pic>
        <p:nvPicPr>
          <p:cNvPr id="4" name="Image 0" descr="/home/claude/fraud_project/04_network_grap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0292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 Results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0" y="1463040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Nodes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0" y="2103120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Edges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188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2743200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Components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3383280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Clusters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0" y="3383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30+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0" y="4114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analysis identifies fraud rings by detecting customers sharing devices, IP addresses, and phone patterns — connections invisible to traditional transaction-level models.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144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Gradient Boosting for real-time scoring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99.91% AUC-ROC with 97.9% precision minimizes false positives while catching 94.3% of fraud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0" y="960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CRITICAL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5448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6002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554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device fingerprint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828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device flag is the strongest fraud signal — mandate device registration for transactions over EUR 500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98080" y="1645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402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2860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240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graph-based network monitoring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514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30+ suspicious clusters; deploy continuous graph analysis to detect emerging fraud rings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0" y="2331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HIGH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97180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2926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velocity rules during off-hours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rates spike 22:00-06:00 — reduce velocity thresholds from 5 to 3 transactions per hour during nights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98080" y="3017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HIGH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118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6576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3611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new accounts with large transfers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3886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under 30 days old making transfers above EUR 1,000 should trigger mandatory review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3703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MEDIUM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97680"/>
            <a:ext cx="54864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34340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monthly model monitoring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572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monitoring dashboard to track precision, recall, and AUC drift — retrain when AUC drops below 0.95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98080" y="4389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MEDIUM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463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ERP, Card Network,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Signals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37360" y="173736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097280"/>
            <a:ext cx="1463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600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Features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Compute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66160" y="173736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31920" y="1097280"/>
            <a:ext cx="1463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Scoring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1600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0.9991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1097280"/>
            <a:ext cx="1463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1600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Expert Rules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23760" y="173736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89520" y="1097280"/>
            <a:ext cx="14630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143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1600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Block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Review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8595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Monitoring &amp; Drift Detection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AUC tracking | Precision/Recall alerts | Feature drift detection | Automated retraining triggers | Alert rule performance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(Scikit-learn, Pandas, NetworkX) | SQL (SQLite) | Tableau | Power BI | SAS-compatible | REST API scoring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0" y="7315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Kareem Makki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Data Analyst | Data Scientist | Data Engineer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kareemmakki@gmail.com  |  +961 70 221 541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linkedin.com/in/kareemmakki  |  github.com/khm08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Coursera: coursera.org/projects/financial-reporting-with-tableau-parameters--filters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Banca Roma Digitale - Fraud Detection System</dc:title>
  <dc:subject>PptxGenJS Presentation</dc:subject>
  <dc:creator>Kareem Makki</dc:creator>
  <cp:lastModifiedBy>Kareem Makki</cp:lastModifiedBy>
  <cp:revision>1</cp:revision>
  <dcterms:created xsi:type="dcterms:W3CDTF">2026-04-06T19:45:46Z</dcterms:created>
  <dcterms:modified xsi:type="dcterms:W3CDTF">2026-04-06T19:45:46Z</dcterms:modified>
</cp:coreProperties>
</file>